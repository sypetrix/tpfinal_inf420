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602700" cy="28803600"/>
  <p:notesSz cx="6858000" cy="9144000"/>
  <p:embeddedFontLst>
    <p:embeddedFont>
      <p:font typeface="Lato Heavy" charset="1" panose="020F0502020204030203"/>
      <p:regular r:id="rId7"/>
    </p:embeddedFont>
    <p:embeddedFont>
      <p:font typeface="Lato Italics" charset="1" panose="020F0502020204030203"/>
      <p:regular r:id="rId8"/>
    </p:embeddedFont>
    <p:embeddedFont>
      <p:font typeface="Lato" charset="1" panose="020F0502020204030203"/>
      <p:regular r:id="rId9"/>
    </p:embeddedFont>
    <p:embeddedFont>
      <p:font typeface="Lato Bold" charset="1" panose="020F0502020204030203"/>
      <p:regular r:id="rId10"/>
    </p:embeddedFont>
    <p:embeddedFont>
      <p:font typeface="Lato Heavy Italics" charset="1" panose="020F05020202040302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0"/>
            <a:ext cx="730092" cy="28800000"/>
            <a:chOff x="0" y="0"/>
            <a:chExt cx="91577" cy="3612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577" cy="3612445"/>
            </a:xfrm>
            <a:custGeom>
              <a:avLst/>
              <a:gdLst/>
              <a:ahLst/>
              <a:cxnLst/>
              <a:rect r="r" b="b" t="t" l="l"/>
              <a:pathLst>
                <a:path h="3612445" w="91577">
                  <a:moveTo>
                    <a:pt x="0" y="0"/>
                  </a:moveTo>
                  <a:lnTo>
                    <a:pt x="91577" y="0"/>
                  </a:lnTo>
                  <a:lnTo>
                    <a:pt x="91577" y="3612445"/>
                  </a:lnTo>
                  <a:lnTo>
                    <a:pt x="0" y="36124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91577" cy="3688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890575" y="37705"/>
            <a:ext cx="730092" cy="28800000"/>
            <a:chOff x="0" y="0"/>
            <a:chExt cx="91577" cy="3612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77" cy="3612445"/>
            </a:xfrm>
            <a:custGeom>
              <a:avLst/>
              <a:gdLst/>
              <a:ahLst/>
              <a:cxnLst/>
              <a:rect r="r" b="b" t="t" l="l"/>
              <a:pathLst>
                <a:path h="3612445" w="91577">
                  <a:moveTo>
                    <a:pt x="0" y="0"/>
                  </a:moveTo>
                  <a:lnTo>
                    <a:pt x="91577" y="0"/>
                  </a:lnTo>
                  <a:lnTo>
                    <a:pt x="91577" y="3612445"/>
                  </a:lnTo>
                  <a:lnTo>
                    <a:pt x="0" y="36124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91577" cy="3688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9496990" y="14072659"/>
            <a:ext cx="730092" cy="28800000"/>
            <a:chOff x="0" y="0"/>
            <a:chExt cx="91577" cy="36124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77" cy="3612445"/>
            </a:xfrm>
            <a:custGeom>
              <a:avLst/>
              <a:gdLst/>
              <a:ahLst/>
              <a:cxnLst/>
              <a:rect r="r" b="b" t="t" l="l"/>
              <a:pathLst>
                <a:path h="3612445" w="91577">
                  <a:moveTo>
                    <a:pt x="0" y="0"/>
                  </a:moveTo>
                  <a:lnTo>
                    <a:pt x="91577" y="0"/>
                  </a:lnTo>
                  <a:lnTo>
                    <a:pt x="91577" y="3612445"/>
                  </a:lnTo>
                  <a:lnTo>
                    <a:pt x="0" y="36124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91577" cy="3688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10979220" y="-14045046"/>
            <a:ext cx="730092" cy="28800000"/>
            <a:chOff x="0" y="0"/>
            <a:chExt cx="91577" cy="3612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77" cy="3612445"/>
            </a:xfrm>
            <a:custGeom>
              <a:avLst/>
              <a:gdLst/>
              <a:ahLst/>
              <a:cxnLst/>
              <a:rect r="r" b="b" t="t" l="l"/>
              <a:pathLst>
                <a:path h="3612445" w="91577">
                  <a:moveTo>
                    <a:pt x="0" y="0"/>
                  </a:moveTo>
                  <a:lnTo>
                    <a:pt x="91577" y="0"/>
                  </a:lnTo>
                  <a:lnTo>
                    <a:pt x="91577" y="3612445"/>
                  </a:lnTo>
                  <a:lnTo>
                    <a:pt x="0" y="36124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91577" cy="3688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1042" y="25892909"/>
            <a:ext cx="20120511" cy="491351"/>
            <a:chOff x="0" y="0"/>
            <a:chExt cx="2523758" cy="61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23758" cy="61631"/>
            </a:xfrm>
            <a:custGeom>
              <a:avLst/>
              <a:gdLst/>
              <a:ahLst/>
              <a:cxnLst/>
              <a:rect r="r" b="b" t="t" l="l"/>
              <a:pathLst>
                <a:path h="61631" w="2523758">
                  <a:moveTo>
                    <a:pt x="0" y="0"/>
                  </a:moveTo>
                  <a:lnTo>
                    <a:pt x="2523758" y="0"/>
                  </a:lnTo>
                  <a:lnTo>
                    <a:pt x="2523758" y="61631"/>
                  </a:lnTo>
                  <a:lnTo>
                    <a:pt x="0" y="61631"/>
                  </a:lnTo>
                  <a:close/>
                </a:path>
              </a:pathLst>
            </a:custGeom>
            <a:solidFill>
              <a:srgbClr val="2E8D16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523758" cy="137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39391" y="25860385"/>
            <a:ext cx="2015118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REFERÊNCIAS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44266" y="6891733"/>
            <a:ext cx="9525641" cy="982701"/>
            <a:chOff x="0" y="0"/>
            <a:chExt cx="1194821" cy="1232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4821" cy="123262"/>
            </a:xfrm>
            <a:custGeom>
              <a:avLst/>
              <a:gdLst/>
              <a:ahLst/>
              <a:cxnLst/>
              <a:rect r="r" b="b" t="t" l="l"/>
              <a:pathLst>
                <a:path h="123262" w="1194821">
                  <a:moveTo>
                    <a:pt x="0" y="0"/>
                  </a:moveTo>
                  <a:lnTo>
                    <a:pt x="1194821" y="0"/>
                  </a:lnTo>
                  <a:lnTo>
                    <a:pt x="1194821" y="123262"/>
                  </a:lnTo>
                  <a:lnTo>
                    <a:pt x="0" y="123262"/>
                  </a:lnTo>
                  <a:close/>
                </a:path>
              </a:pathLst>
            </a:custGeom>
            <a:solidFill>
              <a:srgbClr val="2E8D16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194821" cy="199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344266" y="7075933"/>
            <a:ext cx="950659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 xml:space="preserve"> RESULTADOS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28969" y="15938299"/>
            <a:ext cx="9261606" cy="3945310"/>
            <a:chOff x="0" y="0"/>
            <a:chExt cx="12348808" cy="52604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66039"/>
              <a:ext cx="6225046" cy="4995407"/>
            </a:xfrm>
            <a:custGeom>
              <a:avLst/>
              <a:gdLst/>
              <a:ahLst/>
              <a:cxnLst/>
              <a:rect r="r" b="b" t="t" l="l"/>
              <a:pathLst>
                <a:path h="4995407" w="6225046">
                  <a:moveTo>
                    <a:pt x="0" y="0"/>
                  </a:moveTo>
                  <a:lnTo>
                    <a:pt x="6225046" y="0"/>
                  </a:lnTo>
                  <a:lnTo>
                    <a:pt x="6225046" y="4995407"/>
                  </a:lnTo>
                  <a:lnTo>
                    <a:pt x="0" y="499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225046" y="0"/>
              <a:ext cx="6123762" cy="4914130"/>
            </a:xfrm>
            <a:custGeom>
              <a:avLst/>
              <a:gdLst/>
              <a:ahLst/>
              <a:cxnLst/>
              <a:rect r="r" b="b" t="t" l="l"/>
              <a:pathLst>
                <a:path h="4914130" w="6123762">
                  <a:moveTo>
                    <a:pt x="0" y="0"/>
                  </a:moveTo>
                  <a:lnTo>
                    <a:pt x="6123762" y="0"/>
                  </a:lnTo>
                  <a:lnTo>
                    <a:pt x="6123762" y="4914130"/>
                  </a:lnTo>
                  <a:lnTo>
                    <a:pt x="0" y="4914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4891054"/>
              <a:ext cx="6225046" cy="369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ato Italics"/>
                  <a:ea typeface="Lato Italics"/>
                  <a:cs typeface="Lato Italics"/>
                  <a:sym typeface="Lato Italics"/>
                </a:rPr>
                <a:t>Figura 1. F1-macro por modelo — base Neps (1.333 questões).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225046" y="4857706"/>
              <a:ext cx="6045067" cy="369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ato Italics"/>
                  <a:ea typeface="Lato Italics"/>
                  <a:cs typeface="Lato Italics"/>
                  <a:sym typeface="Lato Italics"/>
                </a:rPr>
                <a:t>Figura 2. F1-macro por modelo — base INF110 (80 questões).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0092" y="6891733"/>
            <a:ext cx="10041206" cy="982701"/>
            <a:chOff x="0" y="0"/>
            <a:chExt cx="1259489" cy="1232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9489" cy="123262"/>
            </a:xfrm>
            <a:custGeom>
              <a:avLst/>
              <a:gdLst/>
              <a:ahLst/>
              <a:cxnLst/>
              <a:rect r="r" b="b" t="t" l="l"/>
              <a:pathLst>
                <a:path h="123262" w="1259489">
                  <a:moveTo>
                    <a:pt x="0" y="0"/>
                  </a:moveTo>
                  <a:lnTo>
                    <a:pt x="1259489" y="0"/>
                  </a:lnTo>
                  <a:lnTo>
                    <a:pt x="1259489" y="123262"/>
                  </a:lnTo>
                  <a:lnTo>
                    <a:pt x="0" y="123262"/>
                  </a:lnTo>
                  <a:close/>
                </a:path>
              </a:pathLst>
            </a:custGeom>
            <a:solidFill>
              <a:srgbClr val="2E8D16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259489" cy="199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30092" y="7075933"/>
            <a:ext cx="1004120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 xml:space="preserve"> CONTEXTUALIZAÇÃO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11042" y="13340704"/>
            <a:ext cx="10060256" cy="982701"/>
            <a:chOff x="0" y="0"/>
            <a:chExt cx="1261879" cy="1232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1879" cy="123262"/>
            </a:xfrm>
            <a:custGeom>
              <a:avLst/>
              <a:gdLst/>
              <a:ahLst/>
              <a:cxnLst/>
              <a:rect r="r" b="b" t="t" l="l"/>
              <a:pathLst>
                <a:path h="123262" w="1261879">
                  <a:moveTo>
                    <a:pt x="0" y="0"/>
                  </a:moveTo>
                  <a:lnTo>
                    <a:pt x="1261879" y="0"/>
                  </a:lnTo>
                  <a:lnTo>
                    <a:pt x="1261879" y="123262"/>
                  </a:lnTo>
                  <a:lnTo>
                    <a:pt x="0" y="123262"/>
                  </a:lnTo>
                  <a:close/>
                </a:path>
              </a:pathLst>
            </a:custGeom>
            <a:solidFill>
              <a:srgbClr val="2E8D16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261879" cy="199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69710" y="13500626"/>
            <a:ext cx="1006060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 xml:space="preserve"> OBJETIVOS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44266" y="20207458"/>
            <a:ext cx="9546308" cy="982701"/>
            <a:chOff x="0" y="0"/>
            <a:chExt cx="1197413" cy="1232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7413" cy="123262"/>
            </a:xfrm>
            <a:custGeom>
              <a:avLst/>
              <a:gdLst/>
              <a:ahLst/>
              <a:cxnLst/>
              <a:rect r="r" b="b" t="t" l="l"/>
              <a:pathLst>
                <a:path h="123262" w="1197413">
                  <a:moveTo>
                    <a:pt x="0" y="0"/>
                  </a:moveTo>
                  <a:lnTo>
                    <a:pt x="1197413" y="0"/>
                  </a:lnTo>
                  <a:lnTo>
                    <a:pt x="1197413" y="123262"/>
                  </a:lnTo>
                  <a:lnTo>
                    <a:pt x="0" y="123262"/>
                  </a:lnTo>
                  <a:close/>
                </a:path>
              </a:pathLst>
            </a:custGeom>
            <a:solidFill>
              <a:srgbClr val="2E8D16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197413" cy="199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344266" y="20406709"/>
            <a:ext cx="924497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 xml:space="preserve">  CONCLUSÃO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69710" y="18878886"/>
            <a:ext cx="10060256" cy="982701"/>
            <a:chOff x="0" y="0"/>
            <a:chExt cx="1261879" cy="12326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61879" cy="123262"/>
            </a:xfrm>
            <a:custGeom>
              <a:avLst/>
              <a:gdLst/>
              <a:ahLst/>
              <a:cxnLst/>
              <a:rect r="r" b="b" t="t" l="l"/>
              <a:pathLst>
                <a:path h="123262" w="1261879">
                  <a:moveTo>
                    <a:pt x="0" y="0"/>
                  </a:moveTo>
                  <a:lnTo>
                    <a:pt x="1261879" y="0"/>
                  </a:lnTo>
                  <a:lnTo>
                    <a:pt x="1261879" y="123262"/>
                  </a:lnTo>
                  <a:lnTo>
                    <a:pt x="0" y="123262"/>
                  </a:lnTo>
                  <a:close/>
                </a:path>
              </a:pathLst>
            </a:custGeom>
            <a:solidFill>
              <a:srgbClr val="2E8D16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1261879" cy="199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28378" y="19038808"/>
            <a:ext cx="1006060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 xml:space="preserve"> METODOLOGIA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0092" y="26497887"/>
            <a:ext cx="20139815" cy="15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SALTON, G.; BUCKLEY, C. Term-weighting approaches in automatic text retrieval. </a:t>
            </a:r>
            <a:r>
              <a:rPr lang="en-US" sz="20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Information Processing &amp; Management</a:t>
            </a:r>
            <a:r>
              <a:rPr lang="en-US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v. 24, n. 5, p. 513-523, 1988.</a:t>
            </a:r>
          </a:p>
          <a:p>
            <a:pPr algn="just">
              <a:lnSpc>
                <a:spcPts val="2000"/>
              </a:lnSpc>
            </a:pPr>
            <a:r>
              <a:rPr lang="en-US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BREIMAN, L. Random Forests. Machine Learning, v. 45, n. 1, p. 5-32, 2001.</a:t>
            </a:r>
          </a:p>
          <a:p>
            <a:pPr algn="just">
              <a:lnSpc>
                <a:spcPts val="2000"/>
              </a:lnSpc>
            </a:pPr>
            <a:r>
              <a:rPr lang="en-US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PEDREGOSA, F. et al. Scikit-learn: Machine Learning in Python. Journal of Machine Learning Research, v. 12, p. 2825-2830, 2011.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44266" y="7969684"/>
            <a:ext cx="9546308" cy="780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Base Neps (1.333 questões): Random Forest atingiu F1-macro = 0,595 (3 níveis) e 0,429 (5 níveis), acima do baseline majoritário (0,220 e 0,119).</a:t>
            </a:r>
          </a:p>
          <a:p>
            <a:pPr algn="just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Base INF110 (80 questões): KNN foi o melhor, com F1-macro = 0,470 em 3 níveis. Em 5 níveis, todos os classificadores ficaram abaixo de 0,32.</a:t>
            </a:r>
          </a:p>
          <a:p>
            <a:pPr algn="just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LLM puro teve desempenho INFERIOR ao ML clássico em ambas as bases (F1=0,281 vs 0,399 na Neps); a híbrida não superou o ML puro. A escala de 3 níveis foi mais robusta que a de 5 em ambas as bases.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1042" y="8104399"/>
            <a:ext cx="9996991" cy="506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classificação manual da dificuldade de questões de programação é cara, subjetiva e depende de especialistas. Estimá-la automaticamente apoia a recomendação personalizada e o estudo por nível.</a:t>
            </a: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</a:p>
          <a:p>
            <a:pPr algn="just">
              <a:lnSpc>
                <a:spcPts val="360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Comparamos três abordagens: ML clássico com TF-IDF (KNN, SVM, RL, RF), um LLM (Llama 3.1-8B via Groq) e uma híbrida combinando TF-IDF a conceitos algorítmicos extraídos pelo LLM.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9391" y="2735658"/>
            <a:ext cx="2012051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CLASSIFICAÇÃO AUTOMÁTICA DA DIFICULDADE DE QUESTÕES DE PROGRAMAÇÃO UTILIZANDO APRENDIZADO DE MÁQUINA E LLMs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11042" y="5859858"/>
            <a:ext cx="2012051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000000"/>
                </a:solidFill>
                <a:latin typeface="Lato Heavy Italics"/>
                <a:ea typeface="Lato Heavy Italics"/>
                <a:cs typeface="Lato Heavy Italics"/>
                <a:sym typeface="Lato Heavy Italics"/>
              </a:rPr>
              <a:t>CARLOS EDUARDO PEREIRA OLIVEIRA E LUIS FELIPE MARTINS PEREIRA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1042" y="14552005"/>
            <a:ext cx="9996991" cy="414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Comparar modelos clássicos de ML (KNN, SVM, RL, RF) e um LLM (Llama via Groq) na classificação automática da dificuldade de questões, em escalas de 3 e 5 níveis.</a:t>
            </a:r>
          </a:p>
          <a:p>
            <a:pPr algn="just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Avaliar se conceitos algorítmicos (15 features) extraídos por LLM agregam ganho preditivo ao TF-IDF, e construir um recomendador por similaridade conceitual + dificuldade compatível.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4307" y="20099712"/>
            <a:ext cx="10060256" cy="552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Duas bases independentes: INF110 (80 questões avaliadas por alunos) e Neps Academy (1.333 questões rotuladas por juiz). Enunciados passaram por limpeza (minúsculas, sem acentos, sem stop-words) e TF-IDF (até 5.000 features, n-gramas 1-2).</a:t>
            </a:r>
          </a:p>
          <a:p>
            <a:pPr algn="just">
              <a:lnSpc>
                <a:spcPts val="360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Treino com validação cruzada estratificada (k=5) e divisão 80/20 fixa por semente. A comparação final cruza: (A) ML puro com TF-IDF, (B) LLM puro few-shot (1 ex/classe) e (C) ML + 15 features binárias de conceitos algorítmicos do LLM.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44266" y="21409235"/>
            <a:ext cx="9310184" cy="414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ML clássico com TF-IDF superou o LLM aplicado diretamente em ambas as bases, com custo ordens de grandeza menor e sem cota de API.</a:t>
            </a:r>
          </a:p>
          <a:p>
            <a:pPr algn="just">
              <a:lnSpc>
                <a:spcPts val="360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escala de 3 níveis é a granularidade recomendada. Os conceitos extraídos pelo LLM viabilizam um recomendador por similaridade + dificuldade predita, generalizável a bases sem rótulo.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11042" y="762905"/>
            <a:ext cx="19943408" cy="1260342"/>
            <a:chOff x="0" y="0"/>
            <a:chExt cx="26591211" cy="16804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2472200" y="21146"/>
              <a:ext cx="1804803" cy="1659310"/>
            </a:xfrm>
            <a:custGeom>
              <a:avLst/>
              <a:gdLst/>
              <a:ahLst/>
              <a:cxnLst/>
              <a:rect r="r" b="b" t="t" l="l"/>
              <a:pathLst>
                <a:path h="1659310" w="1804803">
                  <a:moveTo>
                    <a:pt x="0" y="0"/>
                  </a:moveTo>
                  <a:lnTo>
                    <a:pt x="1804803" y="0"/>
                  </a:lnTo>
                  <a:lnTo>
                    <a:pt x="1804803" y="1659309"/>
                  </a:lnTo>
                  <a:lnTo>
                    <a:pt x="0" y="1659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4450503" y="0"/>
              <a:ext cx="2140708" cy="1680455"/>
            </a:xfrm>
            <a:custGeom>
              <a:avLst/>
              <a:gdLst/>
              <a:ahLst/>
              <a:cxnLst/>
              <a:rect r="r" b="b" t="t" l="l"/>
              <a:pathLst>
                <a:path h="1680455" w="2140708">
                  <a:moveTo>
                    <a:pt x="0" y="0"/>
                  </a:moveTo>
                  <a:lnTo>
                    <a:pt x="2140708" y="0"/>
                  </a:lnTo>
                  <a:lnTo>
                    <a:pt x="2140708" y="1680455"/>
                  </a:lnTo>
                  <a:lnTo>
                    <a:pt x="0" y="1680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70587" cy="1680455"/>
            </a:xfrm>
            <a:custGeom>
              <a:avLst/>
              <a:gdLst/>
              <a:ahLst/>
              <a:cxnLst/>
              <a:rect r="r" b="b" t="t" l="l"/>
              <a:pathLst>
                <a:path h="1680455" w="5870587">
                  <a:moveTo>
                    <a:pt x="0" y="0"/>
                  </a:moveTo>
                  <a:lnTo>
                    <a:pt x="5870587" y="0"/>
                  </a:lnTo>
                  <a:lnTo>
                    <a:pt x="5870587" y="1680455"/>
                  </a:lnTo>
                  <a:lnTo>
                    <a:pt x="0" y="1680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5620227" y="-47625"/>
              <a:ext cx="16922809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INF 420 - INTELIGÊNCIA ARTIFICIAL I - 2026/1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 xml:space="preserve">  INSTITUTO DE INTELIGÊNCIA ARTIFICIAL E COMPUTACIONAL DA UFV - IDATA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 xml:space="preserve">UNIVERSIDADE FEDERAL DE VIÇOSA- DEPARTAMENTO DE INFORMÁTICA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DAGObsa-UJo</dc:identifier>
  <dcterms:modified xsi:type="dcterms:W3CDTF">2011-08-01T06:04:30Z</dcterms:modified>
  <cp:revision>1</cp:revision>
  <dc:title>IA 2026- Template Banner</dc:title>
</cp:coreProperties>
</file>